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Chakra Petch Bold" panose="020B0604020202020204" charset="-3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322"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a:off x="4193323" y="-2483098"/>
            <a:ext cx="9901355" cy="4966195"/>
            <a:chOff x="0" y="0"/>
            <a:chExt cx="1215390" cy="609600"/>
          </a:xfrm>
        </p:grpSpPr>
        <p:sp>
          <p:nvSpPr>
            <p:cNvPr id="3" name="Freeform 3"/>
            <p:cNvSpPr/>
            <p:nvPr/>
          </p:nvSpPr>
          <p:spPr>
            <a:xfrm>
              <a:off x="0" y="0"/>
              <a:ext cx="1215390" cy="609600"/>
            </a:xfrm>
            <a:custGeom>
              <a:avLst/>
              <a:gdLst/>
              <a:ahLst/>
              <a:cxnLst/>
              <a:rect l="l" t="t" r="r" b="b"/>
              <a:pathLst>
                <a:path w="1215390" h="609600">
                  <a:moveTo>
                    <a:pt x="203200" y="609600"/>
                  </a:moveTo>
                  <a:lnTo>
                    <a:pt x="1012190" y="609600"/>
                  </a:lnTo>
                  <a:lnTo>
                    <a:pt x="1215390"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961390" cy="657225"/>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227030" y="165397"/>
            <a:ext cx="17833941" cy="2459463"/>
          </a:xfrm>
          <a:prstGeom prst="rect">
            <a:avLst/>
          </a:prstGeom>
        </p:spPr>
        <p:txBody>
          <a:bodyPr lIns="0" tIns="0" rIns="0" bIns="0" rtlCol="0" anchor="t">
            <a:spAutoFit/>
          </a:bodyPr>
          <a:lstStyle/>
          <a:p>
            <a:pPr algn="l">
              <a:lnSpc>
                <a:spcPts val="9864"/>
              </a:lnSpc>
              <a:spcBef>
                <a:spcPct val="0"/>
              </a:spcBef>
            </a:pPr>
            <a:r>
              <a:rPr lang="en-US" sz="7045" b="1" spc="-211">
                <a:gradFill>
                  <a:gsLst>
                    <a:gs pos="0">
                      <a:srgbClr val="FFFFFF">
                        <a:alpha val="100000"/>
                      </a:srgbClr>
                    </a:gs>
                    <a:gs pos="50000">
                      <a:srgbClr val="FFFFFF">
                        <a:alpha val="100000"/>
                      </a:srgbClr>
                    </a:gs>
                    <a:gs pos="100000">
                      <a:srgbClr val="9294A7">
                        <a:alpha val="100000"/>
                      </a:srgbClr>
                    </a:gs>
                  </a:gsLst>
                  <a:lin ang="5400000"/>
                </a:gradFill>
                <a:latin typeface="Chakra Petch Bold"/>
                <a:ea typeface="Chakra Petch Bold"/>
                <a:cs typeface="Chakra Petch Bold"/>
                <a:sym typeface="Chakra Petch Bold"/>
              </a:rPr>
              <a:t>WEEK 7  VAPT (WEB APPLICATION TESTING WITH BURP SUITE)</a:t>
            </a:r>
          </a:p>
        </p:txBody>
      </p:sp>
      <p:grpSp>
        <p:nvGrpSpPr>
          <p:cNvPr id="6" name="Group 6"/>
          <p:cNvGrpSpPr/>
          <p:nvPr/>
        </p:nvGrpSpPr>
        <p:grpSpPr>
          <a:xfrm>
            <a:off x="8801542" y="5320805"/>
            <a:ext cx="9901355" cy="4966195"/>
            <a:chOff x="0" y="0"/>
            <a:chExt cx="1215390" cy="609600"/>
          </a:xfrm>
        </p:grpSpPr>
        <p:sp>
          <p:nvSpPr>
            <p:cNvPr id="7" name="Freeform 7"/>
            <p:cNvSpPr/>
            <p:nvPr/>
          </p:nvSpPr>
          <p:spPr>
            <a:xfrm>
              <a:off x="0" y="0"/>
              <a:ext cx="1215390" cy="609600"/>
            </a:xfrm>
            <a:custGeom>
              <a:avLst/>
              <a:gdLst/>
              <a:ahLst/>
              <a:cxnLst/>
              <a:rect l="l" t="t" r="r" b="b"/>
              <a:pathLst>
                <a:path w="1215390" h="609600">
                  <a:moveTo>
                    <a:pt x="203200" y="609600"/>
                  </a:moveTo>
                  <a:lnTo>
                    <a:pt x="1012190" y="609600"/>
                  </a:lnTo>
                  <a:lnTo>
                    <a:pt x="1215390" y="0"/>
                  </a:lnTo>
                  <a:lnTo>
                    <a:pt x="0" y="0"/>
                  </a:lnTo>
                  <a:lnTo>
                    <a:pt x="203200" y="609600"/>
                  </a:lnTo>
                  <a:close/>
                </a:path>
              </a:pathLst>
            </a:custGeom>
            <a:gradFill rotWithShape="1">
              <a:gsLst>
                <a:gs pos="0">
                  <a:srgbClr val="FF3488">
                    <a:alpha val="0"/>
                  </a:srgbClr>
                </a:gs>
                <a:gs pos="100000">
                  <a:srgbClr val="FF3488">
                    <a:alpha val="100000"/>
                  </a:srgbClr>
                </a:gs>
              </a:gsLst>
              <a:lin ang="5400000"/>
            </a:gradFill>
          </p:spPr>
        </p:sp>
        <p:sp>
          <p:nvSpPr>
            <p:cNvPr id="8" name="TextBox 8"/>
            <p:cNvSpPr txBox="1"/>
            <p:nvPr/>
          </p:nvSpPr>
          <p:spPr>
            <a:xfrm>
              <a:off x="127000" y="-47625"/>
              <a:ext cx="961390" cy="657225"/>
            </a:xfrm>
            <a:prstGeom prst="rect">
              <a:avLst/>
            </a:prstGeom>
          </p:spPr>
          <p:txBody>
            <a:bodyPr lIns="50800" tIns="50800" rIns="50800" bIns="50800" rtlCol="0" anchor="ctr"/>
            <a:lstStyle/>
            <a:p>
              <a:pPr algn="ctr">
                <a:lnSpc>
                  <a:spcPts val="1960"/>
                </a:lnSpc>
              </a:pPr>
              <a:endParaRPr/>
            </a:p>
          </p:txBody>
        </p:sp>
      </p:grpSp>
      <p:sp>
        <p:nvSpPr>
          <p:cNvPr id="9" name="Freeform 9"/>
          <p:cNvSpPr/>
          <p:nvPr/>
        </p:nvSpPr>
        <p:spPr>
          <a:xfrm>
            <a:off x="10089039" y="4195262"/>
            <a:ext cx="8198961" cy="5518796"/>
          </a:xfrm>
          <a:custGeom>
            <a:avLst/>
            <a:gdLst/>
            <a:ahLst/>
            <a:cxnLst/>
            <a:rect l="l" t="t" r="r" b="b"/>
            <a:pathLst>
              <a:path w="8198961" h="5518796">
                <a:moveTo>
                  <a:pt x="0" y="0"/>
                </a:moveTo>
                <a:lnTo>
                  <a:pt x="8198961" y="0"/>
                </a:lnTo>
                <a:lnTo>
                  <a:pt x="8198961" y="5518796"/>
                </a:lnTo>
                <a:lnTo>
                  <a:pt x="0" y="5518796"/>
                </a:lnTo>
                <a:lnTo>
                  <a:pt x="0" y="0"/>
                </a:lnTo>
                <a:close/>
              </a:path>
            </a:pathLst>
          </a:custGeom>
          <a:blipFill>
            <a:blip r:embed="rId2"/>
            <a:stretch>
              <a:fillRect t="-2738" b="-21126"/>
            </a:stretch>
          </a:blipFill>
        </p:spPr>
      </p:sp>
      <p:sp>
        <p:nvSpPr>
          <p:cNvPr id="10" name="TextBox 10"/>
          <p:cNvSpPr txBox="1"/>
          <p:nvPr/>
        </p:nvSpPr>
        <p:spPr>
          <a:xfrm>
            <a:off x="917375" y="5774195"/>
            <a:ext cx="6864429" cy="1180465"/>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NAME: B SAI AMULYA GOUD</a:t>
            </a:r>
          </a:p>
          <a:p>
            <a:pPr algn="ctr">
              <a:lnSpc>
                <a:spcPts val="4759"/>
              </a:lnSpc>
            </a:pPr>
            <a:r>
              <a:rPr lang="en-US" sz="3399" b="1">
                <a:solidFill>
                  <a:srgbClr val="FFFFFF"/>
                </a:solidFill>
                <a:latin typeface="Canva Sans Bold"/>
                <a:ea typeface="Canva Sans Bold"/>
                <a:cs typeface="Canva Sans Bold"/>
                <a:sym typeface="Canva Sans Bold"/>
              </a:rPr>
              <a:t>SIN: DG/SEPTEMBER/CYBER/179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a:off x="4193323" y="-2483098"/>
            <a:ext cx="9901355" cy="4966195"/>
            <a:chOff x="0" y="0"/>
            <a:chExt cx="1215390" cy="609600"/>
          </a:xfrm>
        </p:grpSpPr>
        <p:sp>
          <p:nvSpPr>
            <p:cNvPr id="3" name="Freeform 3"/>
            <p:cNvSpPr/>
            <p:nvPr/>
          </p:nvSpPr>
          <p:spPr>
            <a:xfrm>
              <a:off x="0" y="0"/>
              <a:ext cx="1215390" cy="609600"/>
            </a:xfrm>
            <a:custGeom>
              <a:avLst/>
              <a:gdLst/>
              <a:ahLst/>
              <a:cxnLst/>
              <a:rect l="l" t="t" r="r" b="b"/>
              <a:pathLst>
                <a:path w="1215390" h="609600">
                  <a:moveTo>
                    <a:pt x="203200" y="609600"/>
                  </a:moveTo>
                  <a:lnTo>
                    <a:pt x="1012190" y="609600"/>
                  </a:lnTo>
                  <a:lnTo>
                    <a:pt x="1215390"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961390" cy="657225"/>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307211" y="266700"/>
            <a:ext cx="8115300" cy="1158242"/>
          </a:xfrm>
          <a:prstGeom prst="rect">
            <a:avLst/>
          </a:prstGeom>
        </p:spPr>
        <p:txBody>
          <a:bodyPr lIns="0" tIns="0" rIns="0" bIns="0" rtlCol="0" anchor="t">
            <a:spAutoFit/>
          </a:bodyPr>
          <a:lstStyle/>
          <a:p>
            <a:pPr algn="l">
              <a:lnSpc>
                <a:spcPts val="8460"/>
              </a:lnSpc>
            </a:pPr>
            <a:r>
              <a:rPr lang="en-US" sz="9400" b="1" spc="-564">
                <a:gradFill>
                  <a:gsLst>
                    <a:gs pos="0">
                      <a:srgbClr val="FFFFFF">
                        <a:alpha val="100000"/>
                      </a:srgbClr>
                    </a:gs>
                    <a:gs pos="50000">
                      <a:srgbClr val="FFFFFF">
                        <a:alpha val="100000"/>
                      </a:srgbClr>
                    </a:gs>
                    <a:gs pos="100000">
                      <a:srgbClr val="9294A7">
                        <a:alpha val="100000"/>
                      </a:srgbClr>
                    </a:gs>
                  </a:gsLst>
                  <a:lin ang="5400000"/>
                </a:gradFill>
                <a:latin typeface="Chakra Petch Bold"/>
                <a:ea typeface="Chakra Petch Bold"/>
                <a:cs typeface="Chakra Petch Bold"/>
                <a:sym typeface="Chakra Petch Bold"/>
              </a:rPr>
              <a:t>OBJECTIVES</a:t>
            </a:r>
          </a:p>
        </p:txBody>
      </p:sp>
      <p:sp>
        <p:nvSpPr>
          <p:cNvPr id="6" name="TextBox 6"/>
          <p:cNvSpPr txBox="1"/>
          <p:nvPr/>
        </p:nvSpPr>
        <p:spPr>
          <a:xfrm>
            <a:off x="307211" y="981075"/>
            <a:ext cx="17740874" cy="8469224"/>
          </a:xfrm>
          <a:prstGeom prst="rect">
            <a:avLst/>
          </a:prstGeom>
        </p:spPr>
        <p:txBody>
          <a:bodyPr lIns="0" tIns="0" rIns="0" bIns="0" rtlCol="0" anchor="t">
            <a:spAutoFit/>
          </a:bodyPr>
          <a:lstStyle/>
          <a:p>
            <a:pPr algn="l">
              <a:lnSpc>
                <a:spcPts val="2800"/>
              </a:lnSpc>
            </a:pPr>
            <a:endParaRPr/>
          </a:p>
          <a:p>
            <a:pPr marL="431838" lvl="1" indent="-215919" algn="l">
              <a:lnSpc>
                <a:spcPts val="2800"/>
              </a:lnSpc>
              <a:buAutoNum type="arabicPeriod"/>
            </a:pPr>
            <a:r>
              <a:rPr lang="en-US" sz="2000">
                <a:solidFill>
                  <a:srgbClr val="FFFFFF"/>
                </a:solidFill>
                <a:latin typeface="Canva Sans"/>
                <a:ea typeface="Canva Sans"/>
                <a:cs typeface="Canva Sans"/>
                <a:sym typeface="Canva Sans"/>
              </a:rPr>
              <a:t>Burp Suite Setup and Configuration: To install Burp Suite Community Edition and configure the browser proxy for intercepting HTTP and HTTPS traffic.</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HTTP Request Interception: To capture, inspect, and analyze HTTP requests and responses, including login requests and session-related information.</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Web Application Reconnaissance: To explore the target application and identify accessible pages, directories, endpoints, login forms, and input fields.</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Application Mapping: To use Burp Suite's Target Site map and HTTP history features to understand the structure and attack surface of the web application.</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Vulnerability Identification: To investigate common web application vulnerabilities, including SQL Injection, Cross-Site Scripting (XSS), authentication weaknesses, and parameter tampering.</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Manual Security Testing: To use Burp Suite tools such as Proxy and Repeater to modify requests, compare server responses, and verify suspected vulnerabilities.</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Directory and Endpoint Discovery: To identify accessible and potentially hidden application resources using Burp Suite and directory discovery tools such as Dirsearch or Gobuster.</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Evidence Collection: To capture screenshots of relevant requests, responses, browser behavior, and testing results to support vulnerability findings.</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Vulnerability Assessment and Reporting: To document identified vulnerabilities with descriptions, reproduction steps, evidence, impact, severity, and remediation recommendations.</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Security Awareness and Best Practices: To understand common web application security risks and recommend appropriate mitigation techniques to improve application security.</a:t>
            </a:r>
          </a:p>
          <a:p>
            <a:pPr marL="431838" lvl="1" indent="-215919" algn="l">
              <a:lnSpc>
                <a:spcPts val="2800"/>
              </a:lnSpc>
              <a:buAutoNum type="arabicPeriod"/>
            </a:pPr>
            <a:r>
              <a:rPr lang="en-US" sz="2000">
                <a:solidFill>
                  <a:srgbClr val="FFFFFF"/>
                </a:solidFill>
                <a:latin typeface="Canva Sans"/>
                <a:ea typeface="Canva Sans"/>
                <a:cs typeface="Canva Sans"/>
                <a:sym typeface="Canva Sans"/>
              </a:rPr>
              <a:t>Practical Skill Development: To gain hands-on experience in web application penetration testing, HTTP traffic analysis, attack-surface mapping, and security report preparation.</a:t>
            </a:r>
          </a:p>
          <a:p>
            <a:pPr algn="l">
              <a:lnSpc>
                <a:spcPts val="2800"/>
              </a:lnSpc>
            </a:pPr>
            <a:endParaRPr lang="en-US" sz="2000">
              <a:solidFill>
                <a:srgbClr val="FFFFFF"/>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sp>
        <p:nvSpPr>
          <p:cNvPr id="2" name="Freeform 2"/>
          <p:cNvSpPr/>
          <p:nvPr/>
        </p:nvSpPr>
        <p:spPr>
          <a:xfrm>
            <a:off x="302267" y="2991915"/>
            <a:ext cx="8376256" cy="4449886"/>
          </a:xfrm>
          <a:custGeom>
            <a:avLst/>
            <a:gdLst/>
            <a:ahLst/>
            <a:cxnLst/>
            <a:rect l="l" t="t" r="r" b="b"/>
            <a:pathLst>
              <a:path w="8376256" h="4449886">
                <a:moveTo>
                  <a:pt x="0" y="0"/>
                </a:moveTo>
                <a:lnTo>
                  <a:pt x="8376256" y="0"/>
                </a:lnTo>
                <a:lnTo>
                  <a:pt x="8376256" y="4449886"/>
                </a:lnTo>
                <a:lnTo>
                  <a:pt x="0" y="4449886"/>
                </a:lnTo>
                <a:lnTo>
                  <a:pt x="0" y="0"/>
                </a:lnTo>
                <a:close/>
              </a:path>
            </a:pathLst>
          </a:custGeom>
          <a:blipFill>
            <a:blip r:embed="rId2"/>
            <a:stretch>
              <a:fillRect/>
            </a:stretch>
          </a:blipFill>
        </p:spPr>
      </p:sp>
      <p:sp>
        <p:nvSpPr>
          <p:cNvPr id="3" name="Freeform 3"/>
          <p:cNvSpPr/>
          <p:nvPr/>
        </p:nvSpPr>
        <p:spPr>
          <a:xfrm>
            <a:off x="9306532" y="2848986"/>
            <a:ext cx="8538788" cy="4536231"/>
          </a:xfrm>
          <a:custGeom>
            <a:avLst/>
            <a:gdLst/>
            <a:ahLst/>
            <a:cxnLst/>
            <a:rect l="l" t="t" r="r" b="b"/>
            <a:pathLst>
              <a:path w="8538788" h="4536231">
                <a:moveTo>
                  <a:pt x="0" y="0"/>
                </a:moveTo>
                <a:lnTo>
                  <a:pt x="8538788" y="0"/>
                </a:lnTo>
                <a:lnTo>
                  <a:pt x="8538788" y="4536231"/>
                </a:lnTo>
                <a:lnTo>
                  <a:pt x="0" y="4536231"/>
                </a:lnTo>
                <a:lnTo>
                  <a:pt x="0" y="0"/>
                </a:lnTo>
                <a:close/>
              </a:path>
            </a:pathLst>
          </a:custGeom>
          <a:blipFill>
            <a:blip r:embed="rId3"/>
            <a:stretch>
              <a:fillRect/>
            </a:stretch>
          </a:blipFill>
        </p:spPr>
      </p:sp>
      <p:sp>
        <p:nvSpPr>
          <p:cNvPr id="4" name="TextBox 4"/>
          <p:cNvSpPr txBox="1"/>
          <p:nvPr/>
        </p:nvSpPr>
        <p:spPr>
          <a:xfrm>
            <a:off x="767744" y="546375"/>
            <a:ext cx="17077576" cy="2154525"/>
          </a:xfrm>
          <a:prstGeom prst="rect">
            <a:avLst/>
          </a:prstGeom>
        </p:spPr>
        <p:txBody>
          <a:bodyPr lIns="0" tIns="0" rIns="0" bIns="0" rtlCol="0" anchor="t">
            <a:spAutoFit/>
          </a:bodyPr>
          <a:lstStyle/>
          <a:p>
            <a:pPr marL="0" lvl="0" indent="0" algn="l">
              <a:lnSpc>
                <a:spcPts val="8144"/>
              </a:lnSpc>
              <a:spcBef>
                <a:spcPct val="0"/>
              </a:spcBef>
            </a:pPr>
            <a:r>
              <a:rPr lang="en-US" sz="9049" b="1" spc="-542">
                <a:gradFill>
                  <a:gsLst>
                    <a:gs pos="0">
                      <a:srgbClr val="FFFFFF">
                        <a:alpha val="100000"/>
                      </a:srgbClr>
                    </a:gs>
                    <a:gs pos="50000">
                      <a:srgbClr val="FFFFFF">
                        <a:alpha val="100000"/>
                      </a:srgbClr>
                    </a:gs>
                    <a:gs pos="100000">
                      <a:srgbClr val="9294A7">
                        <a:alpha val="100000"/>
                      </a:srgbClr>
                    </a:gs>
                  </a:gsLst>
                  <a:lin ang="5400000"/>
                </a:gradFill>
                <a:latin typeface="Chakra Petch Bold"/>
                <a:ea typeface="Chakra Petch Bold"/>
                <a:cs typeface="Chakra Petch Bold"/>
                <a:sym typeface="Chakra Petch Bold"/>
              </a:rPr>
              <a:t>TASK 22 BURP SUITE SETUP &amp; INTERCEPTION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5320805"/>
            <a:ext cx="8115300" cy="4966195"/>
            <a:chOff x="0" y="0"/>
            <a:chExt cx="996152" cy="609600"/>
          </a:xfrm>
        </p:grpSpPr>
        <p:sp>
          <p:nvSpPr>
            <p:cNvPr id="3" name="Freeform 3"/>
            <p:cNvSpPr/>
            <p:nvPr/>
          </p:nvSpPr>
          <p:spPr>
            <a:xfrm>
              <a:off x="0" y="0"/>
              <a:ext cx="996152" cy="609600"/>
            </a:xfrm>
            <a:custGeom>
              <a:avLst/>
              <a:gdLst/>
              <a:ahLst/>
              <a:cxnLst/>
              <a:rect l="l" t="t" r="r" b="b"/>
              <a:pathLst>
                <a:path w="996152" h="609600">
                  <a:moveTo>
                    <a:pt x="203200" y="609600"/>
                  </a:moveTo>
                  <a:lnTo>
                    <a:pt x="792952" y="609600"/>
                  </a:lnTo>
                  <a:lnTo>
                    <a:pt x="996152"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742152" cy="657225"/>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645561" y="647292"/>
            <a:ext cx="17381776" cy="2176049"/>
          </a:xfrm>
          <a:prstGeom prst="rect">
            <a:avLst/>
          </a:prstGeom>
        </p:spPr>
        <p:txBody>
          <a:bodyPr lIns="0" tIns="0" rIns="0" bIns="0" rtlCol="0" anchor="t">
            <a:spAutoFit/>
          </a:bodyPr>
          <a:lstStyle/>
          <a:p>
            <a:pPr marL="0" lvl="0" indent="0" algn="l">
              <a:lnSpc>
                <a:spcPts val="8274"/>
              </a:lnSpc>
              <a:spcBef>
                <a:spcPct val="0"/>
              </a:spcBef>
            </a:pPr>
            <a:r>
              <a:rPr lang="en-US" sz="9193" b="1" spc="-551">
                <a:gradFill>
                  <a:gsLst>
                    <a:gs pos="0">
                      <a:srgbClr val="FFFFFF">
                        <a:alpha val="100000"/>
                      </a:srgbClr>
                    </a:gs>
                    <a:gs pos="50000">
                      <a:srgbClr val="FFFFFF">
                        <a:alpha val="100000"/>
                      </a:srgbClr>
                    </a:gs>
                    <a:gs pos="100000">
                      <a:srgbClr val="9294A7">
                        <a:alpha val="100000"/>
                      </a:srgbClr>
                    </a:gs>
                  </a:gsLst>
                  <a:lin ang="5400000"/>
                </a:gradFill>
                <a:latin typeface="Chakra Petch Bold"/>
                <a:ea typeface="Chakra Petch Bold"/>
                <a:cs typeface="Chakra Petch Bold"/>
                <a:sym typeface="Chakra Petch Bold"/>
              </a:rPr>
              <a:t>TASK 23  RECONNAISSANCE AND MAPPING A WEB APPLICATION</a:t>
            </a:r>
          </a:p>
        </p:txBody>
      </p:sp>
      <p:sp>
        <p:nvSpPr>
          <p:cNvPr id="6" name="Freeform 6"/>
          <p:cNvSpPr/>
          <p:nvPr/>
        </p:nvSpPr>
        <p:spPr>
          <a:xfrm>
            <a:off x="1786915" y="4342785"/>
            <a:ext cx="9816665" cy="5215103"/>
          </a:xfrm>
          <a:custGeom>
            <a:avLst/>
            <a:gdLst/>
            <a:ahLst/>
            <a:cxnLst/>
            <a:rect l="l" t="t" r="r" b="b"/>
            <a:pathLst>
              <a:path w="9816665" h="5215103">
                <a:moveTo>
                  <a:pt x="0" y="0"/>
                </a:moveTo>
                <a:lnTo>
                  <a:pt x="9816665" y="0"/>
                </a:lnTo>
                <a:lnTo>
                  <a:pt x="9816665" y="5215103"/>
                </a:lnTo>
                <a:lnTo>
                  <a:pt x="0" y="5215103"/>
                </a:lnTo>
                <a:lnTo>
                  <a:pt x="0" y="0"/>
                </a:lnTo>
                <a:close/>
              </a:path>
            </a:pathLst>
          </a:custGeom>
          <a:blipFill>
            <a:blip r:embed="rId2"/>
            <a:stretch>
              <a:fillRect/>
            </a:stretch>
          </a:blipFill>
        </p:spPr>
      </p:sp>
      <p:sp>
        <p:nvSpPr>
          <p:cNvPr id="7" name="TextBox 7"/>
          <p:cNvSpPr txBox="1"/>
          <p:nvPr/>
        </p:nvSpPr>
        <p:spPr>
          <a:xfrm>
            <a:off x="1371600" y="3010852"/>
            <a:ext cx="3372207" cy="580390"/>
          </a:xfrm>
          <a:prstGeom prst="rect">
            <a:avLst/>
          </a:prstGeom>
        </p:spPr>
        <p:txBody>
          <a:bodyPr lIns="0" tIns="0" rIns="0" bIns="0" rtlCol="0" anchor="t">
            <a:spAutoFit/>
          </a:bodyPr>
          <a:lstStyle/>
          <a:p>
            <a:pPr algn="ctr">
              <a:lnSpc>
                <a:spcPts val="4759"/>
              </a:lnSpc>
            </a:pPr>
            <a:r>
              <a:rPr lang="en-US" sz="3399" b="1" dirty="0">
                <a:solidFill>
                  <a:srgbClr val="FFFFFF"/>
                </a:solidFill>
                <a:latin typeface="Canva Sans Bold"/>
                <a:ea typeface="Canva Sans Bold"/>
                <a:cs typeface="Canva Sans Bold"/>
                <a:sym typeface="Canva Sans Bold"/>
              </a:rPr>
              <a:t>XSS (Reflected):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4193942" y="7144554"/>
            <a:ext cx="10681838" cy="4966195"/>
            <a:chOff x="0" y="0"/>
            <a:chExt cx="1311195" cy="609600"/>
          </a:xfrm>
        </p:grpSpPr>
        <p:sp>
          <p:nvSpPr>
            <p:cNvPr id="3" name="Freeform 3"/>
            <p:cNvSpPr/>
            <p:nvPr/>
          </p:nvSpPr>
          <p:spPr>
            <a:xfrm>
              <a:off x="0" y="0"/>
              <a:ext cx="1311195" cy="609600"/>
            </a:xfrm>
            <a:custGeom>
              <a:avLst/>
              <a:gdLst/>
              <a:ahLst/>
              <a:cxnLst/>
              <a:rect l="l" t="t" r="r" b="b"/>
              <a:pathLst>
                <a:path w="1311195" h="609600">
                  <a:moveTo>
                    <a:pt x="203200" y="609600"/>
                  </a:moveTo>
                  <a:lnTo>
                    <a:pt x="1107995" y="609600"/>
                  </a:lnTo>
                  <a:lnTo>
                    <a:pt x="1311195"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1057195" cy="657225"/>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873058" y="448310"/>
            <a:ext cx="2951083"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SQL Injection:</a:t>
            </a:r>
          </a:p>
        </p:txBody>
      </p:sp>
      <p:sp>
        <p:nvSpPr>
          <p:cNvPr id="6" name="Freeform 6"/>
          <p:cNvSpPr/>
          <p:nvPr/>
        </p:nvSpPr>
        <p:spPr>
          <a:xfrm>
            <a:off x="9534861" y="1968719"/>
            <a:ext cx="7576231" cy="4024873"/>
          </a:xfrm>
          <a:custGeom>
            <a:avLst/>
            <a:gdLst/>
            <a:ahLst/>
            <a:cxnLst/>
            <a:rect l="l" t="t" r="r" b="b"/>
            <a:pathLst>
              <a:path w="7576231" h="4024873">
                <a:moveTo>
                  <a:pt x="0" y="0"/>
                </a:moveTo>
                <a:lnTo>
                  <a:pt x="7576231" y="0"/>
                </a:lnTo>
                <a:lnTo>
                  <a:pt x="7576231" y="4024873"/>
                </a:lnTo>
                <a:lnTo>
                  <a:pt x="0" y="4024873"/>
                </a:lnTo>
                <a:lnTo>
                  <a:pt x="0" y="0"/>
                </a:lnTo>
                <a:close/>
              </a:path>
            </a:pathLst>
          </a:custGeom>
          <a:blipFill>
            <a:blip r:embed="rId2"/>
            <a:stretch>
              <a:fillRect/>
            </a:stretch>
          </a:blipFill>
        </p:spPr>
      </p:sp>
      <p:sp>
        <p:nvSpPr>
          <p:cNvPr id="7" name="Freeform 7"/>
          <p:cNvSpPr/>
          <p:nvPr/>
        </p:nvSpPr>
        <p:spPr>
          <a:xfrm>
            <a:off x="873058" y="1959324"/>
            <a:ext cx="7593916" cy="4034268"/>
          </a:xfrm>
          <a:custGeom>
            <a:avLst/>
            <a:gdLst/>
            <a:ahLst/>
            <a:cxnLst/>
            <a:rect l="l" t="t" r="r" b="b"/>
            <a:pathLst>
              <a:path w="7593916" h="4034268">
                <a:moveTo>
                  <a:pt x="0" y="0"/>
                </a:moveTo>
                <a:lnTo>
                  <a:pt x="7593916" y="0"/>
                </a:lnTo>
                <a:lnTo>
                  <a:pt x="7593916" y="4034268"/>
                </a:lnTo>
                <a:lnTo>
                  <a:pt x="0" y="4034268"/>
                </a:lnTo>
                <a:lnTo>
                  <a:pt x="0" y="0"/>
                </a:lnTo>
                <a:close/>
              </a:path>
            </a:pathLst>
          </a:custGeom>
          <a:blipFill>
            <a:blip r:embed="rId3"/>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a:off x="6477293" y="0"/>
            <a:ext cx="8025329" cy="2775926"/>
            <a:chOff x="0" y="0"/>
            <a:chExt cx="1762381" cy="609600"/>
          </a:xfrm>
        </p:grpSpPr>
        <p:sp>
          <p:nvSpPr>
            <p:cNvPr id="3" name="Freeform 3"/>
            <p:cNvSpPr/>
            <p:nvPr/>
          </p:nvSpPr>
          <p:spPr>
            <a:xfrm>
              <a:off x="0" y="0"/>
              <a:ext cx="1762381" cy="609600"/>
            </a:xfrm>
            <a:custGeom>
              <a:avLst/>
              <a:gdLst/>
              <a:ahLst/>
              <a:cxnLst/>
              <a:rect l="l" t="t" r="r" b="b"/>
              <a:pathLst>
                <a:path w="1762381" h="609600">
                  <a:moveTo>
                    <a:pt x="203200" y="609600"/>
                  </a:moveTo>
                  <a:lnTo>
                    <a:pt x="1559181" y="609600"/>
                  </a:lnTo>
                  <a:lnTo>
                    <a:pt x="1762381"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1508381" cy="65722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1028700" y="2593314"/>
            <a:ext cx="7918643" cy="4206779"/>
          </a:xfrm>
          <a:custGeom>
            <a:avLst/>
            <a:gdLst/>
            <a:ahLst/>
            <a:cxnLst/>
            <a:rect l="l" t="t" r="r" b="b"/>
            <a:pathLst>
              <a:path w="7918643" h="4206779">
                <a:moveTo>
                  <a:pt x="0" y="0"/>
                </a:moveTo>
                <a:lnTo>
                  <a:pt x="7918643" y="0"/>
                </a:lnTo>
                <a:lnTo>
                  <a:pt x="7918643" y="4206779"/>
                </a:lnTo>
                <a:lnTo>
                  <a:pt x="0" y="4206779"/>
                </a:lnTo>
                <a:lnTo>
                  <a:pt x="0" y="0"/>
                </a:lnTo>
                <a:close/>
              </a:path>
            </a:pathLst>
          </a:custGeom>
          <a:blipFill>
            <a:blip r:embed="rId2"/>
            <a:stretch>
              <a:fillRect/>
            </a:stretch>
          </a:blipFill>
        </p:spPr>
      </p:sp>
      <p:sp>
        <p:nvSpPr>
          <p:cNvPr id="6" name="Freeform 6"/>
          <p:cNvSpPr/>
          <p:nvPr/>
        </p:nvSpPr>
        <p:spPr>
          <a:xfrm>
            <a:off x="10146217" y="2593314"/>
            <a:ext cx="7918643" cy="4206779"/>
          </a:xfrm>
          <a:custGeom>
            <a:avLst/>
            <a:gdLst/>
            <a:ahLst/>
            <a:cxnLst/>
            <a:rect l="l" t="t" r="r" b="b"/>
            <a:pathLst>
              <a:path w="7918643" h="4206779">
                <a:moveTo>
                  <a:pt x="0" y="0"/>
                </a:moveTo>
                <a:lnTo>
                  <a:pt x="7918643" y="0"/>
                </a:lnTo>
                <a:lnTo>
                  <a:pt x="7918643" y="4206779"/>
                </a:lnTo>
                <a:lnTo>
                  <a:pt x="0" y="4206779"/>
                </a:lnTo>
                <a:lnTo>
                  <a:pt x="0" y="0"/>
                </a:lnTo>
                <a:close/>
              </a:path>
            </a:pathLst>
          </a:custGeom>
          <a:blipFill>
            <a:blip r:embed="rId3"/>
            <a:stretch>
              <a:fillRect/>
            </a:stretch>
          </a:blipFill>
        </p:spPr>
      </p:sp>
      <p:sp>
        <p:nvSpPr>
          <p:cNvPr id="7" name="TextBox 7"/>
          <p:cNvSpPr txBox="1"/>
          <p:nvPr/>
        </p:nvSpPr>
        <p:spPr>
          <a:xfrm>
            <a:off x="1028700" y="600710"/>
            <a:ext cx="2019300" cy="580390"/>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Canva Sans Bold"/>
                <a:ea typeface="Canva Sans Bold"/>
                <a:cs typeface="Canva Sans Bold"/>
                <a:sym typeface="Canva Sans Bold"/>
              </a:rPr>
              <a:t>Brute: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a:off x="1028700" y="0"/>
            <a:ext cx="7086600" cy="2660041"/>
            <a:chOff x="0" y="0"/>
            <a:chExt cx="1624032" cy="609600"/>
          </a:xfrm>
        </p:grpSpPr>
        <p:sp>
          <p:nvSpPr>
            <p:cNvPr id="3" name="Freeform 3"/>
            <p:cNvSpPr/>
            <p:nvPr/>
          </p:nvSpPr>
          <p:spPr>
            <a:xfrm>
              <a:off x="0" y="0"/>
              <a:ext cx="1624032" cy="609600"/>
            </a:xfrm>
            <a:custGeom>
              <a:avLst/>
              <a:gdLst/>
              <a:ahLst/>
              <a:cxnLst/>
              <a:rect l="l" t="t" r="r" b="b"/>
              <a:pathLst>
                <a:path w="1624032" h="609600">
                  <a:moveTo>
                    <a:pt x="203200" y="609600"/>
                  </a:moveTo>
                  <a:lnTo>
                    <a:pt x="1420832" y="609600"/>
                  </a:lnTo>
                  <a:lnTo>
                    <a:pt x="1624032"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1370032" cy="65722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474765" y="4697743"/>
            <a:ext cx="8194470" cy="4353312"/>
          </a:xfrm>
          <a:custGeom>
            <a:avLst/>
            <a:gdLst/>
            <a:ahLst/>
            <a:cxnLst/>
            <a:rect l="l" t="t" r="r" b="b"/>
            <a:pathLst>
              <a:path w="8194470" h="4353312">
                <a:moveTo>
                  <a:pt x="0" y="0"/>
                </a:moveTo>
                <a:lnTo>
                  <a:pt x="8194470" y="0"/>
                </a:lnTo>
                <a:lnTo>
                  <a:pt x="8194470" y="4353312"/>
                </a:lnTo>
                <a:lnTo>
                  <a:pt x="0" y="4353312"/>
                </a:lnTo>
                <a:lnTo>
                  <a:pt x="0" y="0"/>
                </a:lnTo>
                <a:close/>
              </a:path>
            </a:pathLst>
          </a:custGeom>
          <a:blipFill>
            <a:blip r:embed="rId2"/>
            <a:stretch>
              <a:fillRect/>
            </a:stretch>
          </a:blipFill>
        </p:spPr>
      </p:sp>
      <p:sp>
        <p:nvSpPr>
          <p:cNvPr id="6" name="Freeform 6"/>
          <p:cNvSpPr/>
          <p:nvPr/>
        </p:nvSpPr>
        <p:spPr>
          <a:xfrm>
            <a:off x="9601892" y="4700817"/>
            <a:ext cx="8072344" cy="4288433"/>
          </a:xfrm>
          <a:custGeom>
            <a:avLst/>
            <a:gdLst/>
            <a:ahLst/>
            <a:cxnLst/>
            <a:rect l="l" t="t" r="r" b="b"/>
            <a:pathLst>
              <a:path w="8072344" h="4288433">
                <a:moveTo>
                  <a:pt x="0" y="0"/>
                </a:moveTo>
                <a:lnTo>
                  <a:pt x="8072343" y="0"/>
                </a:lnTo>
                <a:lnTo>
                  <a:pt x="8072343" y="4288433"/>
                </a:lnTo>
                <a:lnTo>
                  <a:pt x="0" y="4288433"/>
                </a:lnTo>
                <a:lnTo>
                  <a:pt x="0" y="0"/>
                </a:lnTo>
                <a:close/>
              </a:path>
            </a:pathLst>
          </a:custGeom>
          <a:blipFill>
            <a:blip r:embed="rId3"/>
            <a:stretch>
              <a:fillRect/>
            </a:stretch>
          </a:blipFill>
        </p:spPr>
      </p:sp>
      <p:sp>
        <p:nvSpPr>
          <p:cNvPr id="7" name="TextBox 7"/>
          <p:cNvSpPr txBox="1"/>
          <p:nvPr/>
        </p:nvSpPr>
        <p:spPr>
          <a:xfrm>
            <a:off x="1568490" y="677626"/>
            <a:ext cx="16008651" cy="1184910"/>
          </a:xfrm>
          <a:prstGeom prst="rect">
            <a:avLst/>
          </a:prstGeom>
        </p:spPr>
        <p:txBody>
          <a:bodyPr lIns="0" tIns="0" rIns="0" bIns="0" rtlCol="0" anchor="t">
            <a:spAutoFit/>
          </a:bodyPr>
          <a:lstStyle/>
          <a:p>
            <a:pPr marL="0" lvl="0" indent="0" algn="l">
              <a:lnSpc>
                <a:spcPts val="8640"/>
              </a:lnSpc>
              <a:spcBef>
                <a:spcPct val="0"/>
              </a:spcBef>
            </a:pPr>
            <a:r>
              <a:rPr lang="en-US" sz="9600" b="1" spc="-576">
                <a:gradFill>
                  <a:gsLst>
                    <a:gs pos="0">
                      <a:srgbClr val="FFFFFF">
                        <a:alpha val="100000"/>
                      </a:srgbClr>
                    </a:gs>
                    <a:gs pos="50000">
                      <a:srgbClr val="FFFFFF">
                        <a:alpha val="100000"/>
                      </a:srgbClr>
                    </a:gs>
                    <a:gs pos="100000">
                      <a:srgbClr val="9294A7">
                        <a:alpha val="100000"/>
                      </a:srgbClr>
                    </a:gs>
                  </a:gsLst>
                  <a:lin ang="5400000"/>
                </a:gradFill>
                <a:latin typeface="Chakra Petch Bold"/>
                <a:ea typeface="Chakra Petch Bold"/>
                <a:cs typeface="Chakra Petch Bold"/>
                <a:sym typeface="Chakra Petch Bold"/>
              </a:rPr>
              <a:t>TASK 24 VULNERABILITY TEST</a:t>
            </a:r>
          </a:p>
        </p:txBody>
      </p:sp>
      <p:sp>
        <p:nvSpPr>
          <p:cNvPr id="8" name="TextBox 8"/>
          <p:cNvSpPr txBox="1"/>
          <p:nvPr/>
        </p:nvSpPr>
        <p:spPr>
          <a:xfrm>
            <a:off x="1028700" y="1638300"/>
            <a:ext cx="6591300" cy="2420856"/>
          </a:xfrm>
          <a:prstGeom prst="rect">
            <a:avLst/>
          </a:prstGeom>
        </p:spPr>
        <p:txBody>
          <a:bodyPr wrap="square" lIns="0" tIns="0" rIns="0" bIns="0" rtlCol="0" anchor="t">
            <a:spAutoFit/>
          </a:bodyPr>
          <a:lstStyle/>
          <a:p>
            <a:pPr algn="l">
              <a:lnSpc>
                <a:spcPts val="4759"/>
              </a:lnSpc>
            </a:pPr>
            <a:r>
              <a:rPr lang="en-US" sz="3399" b="1" dirty="0">
                <a:solidFill>
                  <a:srgbClr val="FFFFFF"/>
                </a:solidFill>
                <a:latin typeface="Canva Sans Bold"/>
                <a:ea typeface="Canva Sans Bold"/>
                <a:cs typeface="Canva Sans Bold"/>
                <a:sym typeface="Canva Sans Bold"/>
              </a:rPr>
              <a:t>SQL Injection:</a:t>
            </a:r>
          </a:p>
          <a:p>
            <a:pPr algn="l">
              <a:lnSpc>
                <a:spcPts val="4759"/>
              </a:lnSpc>
            </a:pPr>
            <a:r>
              <a:rPr lang="en-US" sz="3399" b="1" dirty="0">
                <a:solidFill>
                  <a:srgbClr val="FFFFFF"/>
                </a:solidFill>
                <a:latin typeface="Canva Sans Bold"/>
                <a:ea typeface="Canva Sans Bold"/>
                <a:cs typeface="Canva Sans Bold"/>
                <a:sym typeface="Canva Sans Bold"/>
              </a:rPr>
              <a:t>INPUT: 1</a:t>
            </a:r>
          </a:p>
          <a:p>
            <a:pPr algn="l">
              <a:lnSpc>
                <a:spcPts val="4759"/>
              </a:lnSpc>
            </a:pPr>
            <a:r>
              <a:rPr lang="en-US" sz="3399" b="1" dirty="0">
                <a:solidFill>
                  <a:srgbClr val="FFFFFF"/>
                </a:solidFill>
                <a:latin typeface="Canva Sans Bold"/>
                <a:ea typeface="Canva Sans Bold"/>
                <a:cs typeface="Canva Sans Bold"/>
                <a:sym typeface="Canva Sans Bold"/>
              </a:rPr>
              <a:t>OUTPUT: first name: admin</a:t>
            </a:r>
          </a:p>
          <a:p>
            <a:pPr algn="l">
              <a:lnSpc>
                <a:spcPts val="4759"/>
              </a:lnSpc>
            </a:pPr>
            <a:r>
              <a:rPr lang="en-US" sz="3399" b="1" dirty="0">
                <a:solidFill>
                  <a:srgbClr val="FFFFFF"/>
                </a:solidFill>
                <a:latin typeface="Canva Sans Bold"/>
                <a:ea typeface="Canva Sans Bold"/>
                <a:cs typeface="Canva Sans Bold"/>
                <a:sym typeface="Canva Sans Bold"/>
              </a:rPr>
              <a:t>                    surname: admin</a:t>
            </a:r>
          </a:p>
        </p:txBody>
      </p:sp>
      <p:sp>
        <p:nvSpPr>
          <p:cNvPr id="9" name="TextBox 9"/>
          <p:cNvSpPr txBox="1"/>
          <p:nvPr/>
        </p:nvSpPr>
        <p:spPr>
          <a:xfrm>
            <a:off x="10765788" y="2089832"/>
            <a:ext cx="7217412" cy="2420856"/>
          </a:xfrm>
          <a:prstGeom prst="rect">
            <a:avLst/>
          </a:prstGeom>
        </p:spPr>
        <p:txBody>
          <a:bodyPr wrap="square" lIns="0" tIns="0" rIns="0" bIns="0" rtlCol="0" anchor="t">
            <a:spAutoFit/>
          </a:bodyPr>
          <a:lstStyle/>
          <a:p>
            <a:pPr algn="l">
              <a:lnSpc>
                <a:spcPts val="4759"/>
              </a:lnSpc>
            </a:pPr>
            <a:r>
              <a:rPr lang="en-US" sz="3399" b="1" dirty="0">
                <a:solidFill>
                  <a:srgbClr val="FFFFFF"/>
                </a:solidFill>
                <a:latin typeface="Canva Sans Bold"/>
                <a:ea typeface="Canva Sans Bold"/>
                <a:cs typeface="Canva Sans Bold"/>
                <a:sym typeface="Canva Sans Bold"/>
              </a:rPr>
              <a:t>INPUT: 2</a:t>
            </a:r>
          </a:p>
          <a:p>
            <a:pPr algn="l">
              <a:lnSpc>
                <a:spcPts val="4759"/>
              </a:lnSpc>
            </a:pPr>
            <a:r>
              <a:rPr lang="en-US" sz="3399" b="1" dirty="0">
                <a:solidFill>
                  <a:srgbClr val="FFFFFF"/>
                </a:solidFill>
                <a:latin typeface="Canva Sans Bold"/>
                <a:ea typeface="Canva Sans Bold"/>
                <a:cs typeface="Canva Sans Bold"/>
                <a:sym typeface="Canva Sans Bold"/>
              </a:rPr>
              <a:t>OUTPUT: first name: Gordon</a:t>
            </a:r>
          </a:p>
          <a:p>
            <a:pPr algn="l">
              <a:lnSpc>
                <a:spcPts val="4759"/>
              </a:lnSpc>
            </a:pPr>
            <a:r>
              <a:rPr lang="en-US" sz="3399" b="1" dirty="0">
                <a:solidFill>
                  <a:srgbClr val="FFFFFF"/>
                </a:solidFill>
                <a:latin typeface="Canva Sans Bold"/>
                <a:ea typeface="Canva Sans Bold"/>
                <a:cs typeface="Canva Sans Bold"/>
                <a:sym typeface="Canva Sans Bold"/>
              </a:rPr>
              <a:t>                    surname: Brown</a:t>
            </a:r>
          </a:p>
          <a:p>
            <a:pPr algn="l">
              <a:lnSpc>
                <a:spcPts val="4759"/>
              </a:lnSpc>
            </a:pPr>
            <a:endParaRPr lang="en-US" sz="3399" b="1" dirty="0">
              <a:solidFill>
                <a:srgbClr val="FFFFFF"/>
              </a:solidFill>
              <a:latin typeface="Canva Sans Bold"/>
              <a:ea typeface="Canva Sans Bold"/>
              <a:cs typeface="Canva Sans Bold"/>
              <a:sym typeface="Canva Sa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sp>
        <p:nvSpPr>
          <p:cNvPr id="2" name="Freeform 2"/>
          <p:cNvSpPr/>
          <p:nvPr/>
        </p:nvSpPr>
        <p:spPr>
          <a:xfrm>
            <a:off x="1070975" y="3182222"/>
            <a:ext cx="8382128" cy="4453005"/>
          </a:xfrm>
          <a:custGeom>
            <a:avLst/>
            <a:gdLst/>
            <a:ahLst/>
            <a:cxnLst/>
            <a:rect l="l" t="t" r="r" b="b"/>
            <a:pathLst>
              <a:path w="8382128" h="4453005">
                <a:moveTo>
                  <a:pt x="0" y="0"/>
                </a:moveTo>
                <a:lnTo>
                  <a:pt x="8382128" y="0"/>
                </a:lnTo>
                <a:lnTo>
                  <a:pt x="8382128" y="4453005"/>
                </a:lnTo>
                <a:lnTo>
                  <a:pt x="0" y="4453005"/>
                </a:lnTo>
                <a:lnTo>
                  <a:pt x="0" y="0"/>
                </a:lnTo>
                <a:close/>
              </a:path>
            </a:pathLst>
          </a:custGeom>
          <a:blipFill>
            <a:blip r:embed="rId2"/>
            <a:stretch>
              <a:fillRect/>
            </a:stretch>
          </a:blipFill>
        </p:spPr>
      </p:sp>
      <p:sp>
        <p:nvSpPr>
          <p:cNvPr id="3" name="Freeform 3"/>
          <p:cNvSpPr/>
          <p:nvPr/>
        </p:nvSpPr>
        <p:spPr>
          <a:xfrm>
            <a:off x="9772999" y="3233809"/>
            <a:ext cx="8187917" cy="4349831"/>
          </a:xfrm>
          <a:custGeom>
            <a:avLst/>
            <a:gdLst/>
            <a:ahLst/>
            <a:cxnLst/>
            <a:rect l="l" t="t" r="r" b="b"/>
            <a:pathLst>
              <a:path w="8187917" h="4349831">
                <a:moveTo>
                  <a:pt x="0" y="0"/>
                </a:moveTo>
                <a:lnTo>
                  <a:pt x="8187917" y="0"/>
                </a:lnTo>
                <a:lnTo>
                  <a:pt x="8187917" y="4349831"/>
                </a:lnTo>
                <a:lnTo>
                  <a:pt x="0" y="4349831"/>
                </a:lnTo>
                <a:lnTo>
                  <a:pt x="0" y="0"/>
                </a:lnTo>
                <a:close/>
              </a:path>
            </a:pathLst>
          </a:custGeom>
          <a:blipFill>
            <a:blip r:embed="rId3"/>
            <a:stretch>
              <a:fillRect/>
            </a:stretch>
          </a:blipFill>
        </p:spPr>
      </p:sp>
      <p:sp>
        <p:nvSpPr>
          <p:cNvPr id="4" name="TextBox 4"/>
          <p:cNvSpPr txBox="1"/>
          <p:nvPr/>
        </p:nvSpPr>
        <p:spPr>
          <a:xfrm>
            <a:off x="850980" y="448310"/>
            <a:ext cx="10516658" cy="1780540"/>
          </a:xfrm>
          <a:prstGeom prst="rect">
            <a:avLst/>
          </a:prstGeom>
        </p:spPr>
        <p:txBody>
          <a:bodyPr lIns="0" tIns="0" rIns="0" bIns="0" rtlCol="0" anchor="t">
            <a:spAutoFit/>
          </a:bodyPr>
          <a:lstStyle/>
          <a:p>
            <a:pPr algn="l">
              <a:lnSpc>
                <a:spcPts val="4759"/>
              </a:lnSpc>
            </a:pPr>
            <a:r>
              <a:rPr lang="en-US" sz="3399" b="1">
                <a:solidFill>
                  <a:srgbClr val="FFFFFF"/>
                </a:solidFill>
                <a:latin typeface="Canva Sans Bold"/>
                <a:ea typeface="Canva Sans Bold"/>
                <a:cs typeface="Canva Sans Bold"/>
                <a:sym typeface="Canva Sans Bold"/>
              </a:rPr>
              <a:t>XSS (Reflected):</a:t>
            </a:r>
          </a:p>
          <a:p>
            <a:pPr algn="l">
              <a:lnSpc>
                <a:spcPts val="4759"/>
              </a:lnSpc>
            </a:pPr>
            <a:r>
              <a:rPr lang="en-US" sz="3399" b="1">
                <a:solidFill>
                  <a:srgbClr val="FFFFFF"/>
                </a:solidFill>
                <a:latin typeface="Canva Sans Bold"/>
                <a:ea typeface="Canva Sans Bold"/>
                <a:cs typeface="Canva Sans Bold"/>
                <a:sym typeface="Canva Sans Bold"/>
              </a:rPr>
              <a:t>INPUT:  &lt;script&gt;alert('XSS-Test')&lt;/script&gt;</a:t>
            </a:r>
          </a:p>
          <a:p>
            <a:pPr algn="l">
              <a:lnSpc>
                <a:spcPts val="4759"/>
              </a:lnSpc>
            </a:pPr>
            <a:r>
              <a:rPr lang="en-US" sz="3399" b="1">
                <a:solidFill>
                  <a:srgbClr val="FFFFFF"/>
                </a:solidFill>
                <a:latin typeface="Canva Sans Bold"/>
                <a:ea typeface="Canva Sans Bold"/>
                <a:cs typeface="Canva Sans Bold"/>
                <a:sym typeface="Canva Sans Bold"/>
              </a:rPr>
              <a:t>OUTPUT: XSS-Test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sp>
        <p:nvSpPr>
          <p:cNvPr id="2" name="Freeform 2"/>
          <p:cNvSpPr/>
          <p:nvPr/>
        </p:nvSpPr>
        <p:spPr>
          <a:xfrm>
            <a:off x="762000" y="3796925"/>
            <a:ext cx="8317464" cy="4418653"/>
          </a:xfrm>
          <a:custGeom>
            <a:avLst/>
            <a:gdLst/>
            <a:ahLst/>
            <a:cxnLst/>
            <a:rect l="l" t="t" r="r" b="b"/>
            <a:pathLst>
              <a:path w="8317464" h="4418653">
                <a:moveTo>
                  <a:pt x="0" y="0"/>
                </a:moveTo>
                <a:lnTo>
                  <a:pt x="8317464" y="0"/>
                </a:lnTo>
                <a:lnTo>
                  <a:pt x="8317464" y="4418653"/>
                </a:lnTo>
                <a:lnTo>
                  <a:pt x="0" y="4418653"/>
                </a:lnTo>
                <a:lnTo>
                  <a:pt x="0" y="0"/>
                </a:lnTo>
                <a:close/>
              </a:path>
            </a:pathLst>
          </a:custGeom>
          <a:blipFill>
            <a:blip r:embed="rId2"/>
            <a:stretch>
              <a:fillRect/>
            </a:stretch>
          </a:blipFill>
        </p:spPr>
      </p:sp>
      <p:sp>
        <p:nvSpPr>
          <p:cNvPr id="3" name="Freeform 3"/>
          <p:cNvSpPr/>
          <p:nvPr/>
        </p:nvSpPr>
        <p:spPr>
          <a:xfrm>
            <a:off x="9456443" y="3771351"/>
            <a:ext cx="8317464" cy="4418653"/>
          </a:xfrm>
          <a:custGeom>
            <a:avLst/>
            <a:gdLst/>
            <a:ahLst/>
            <a:cxnLst/>
            <a:rect l="l" t="t" r="r" b="b"/>
            <a:pathLst>
              <a:path w="8317464" h="4418653">
                <a:moveTo>
                  <a:pt x="0" y="0"/>
                </a:moveTo>
                <a:lnTo>
                  <a:pt x="8317464" y="0"/>
                </a:lnTo>
                <a:lnTo>
                  <a:pt x="8317464" y="4418652"/>
                </a:lnTo>
                <a:lnTo>
                  <a:pt x="0" y="4418652"/>
                </a:lnTo>
                <a:lnTo>
                  <a:pt x="0" y="0"/>
                </a:lnTo>
                <a:close/>
              </a:path>
            </a:pathLst>
          </a:custGeom>
          <a:blipFill>
            <a:blip r:embed="rId3"/>
            <a:stretch>
              <a:fillRect/>
            </a:stretch>
          </a:blipFill>
        </p:spPr>
      </p:sp>
      <p:sp>
        <p:nvSpPr>
          <p:cNvPr id="4" name="TextBox 4"/>
          <p:cNvSpPr txBox="1"/>
          <p:nvPr/>
        </p:nvSpPr>
        <p:spPr>
          <a:xfrm>
            <a:off x="826536" y="482205"/>
            <a:ext cx="13041864" cy="3036409"/>
          </a:xfrm>
          <a:prstGeom prst="rect">
            <a:avLst/>
          </a:prstGeom>
        </p:spPr>
        <p:txBody>
          <a:bodyPr wrap="square" lIns="0" tIns="0" rIns="0" bIns="0" rtlCol="0" anchor="t">
            <a:spAutoFit/>
          </a:bodyPr>
          <a:lstStyle/>
          <a:p>
            <a:pPr algn="l">
              <a:lnSpc>
                <a:spcPts val="4759"/>
              </a:lnSpc>
            </a:pPr>
            <a:r>
              <a:rPr lang="en-US" sz="3399" b="1" dirty="0">
                <a:solidFill>
                  <a:srgbClr val="FFFFFF"/>
                </a:solidFill>
                <a:latin typeface="Canva Sans Bold"/>
                <a:ea typeface="Canva Sans Bold"/>
                <a:cs typeface="Canva Sans Bold"/>
                <a:sym typeface="Canva Sans Bold"/>
              </a:rPr>
              <a:t>Brute:</a:t>
            </a:r>
          </a:p>
          <a:p>
            <a:pPr algn="l">
              <a:lnSpc>
                <a:spcPts val="4759"/>
              </a:lnSpc>
            </a:pPr>
            <a:r>
              <a:rPr lang="en-US" sz="3399" b="1" dirty="0">
                <a:solidFill>
                  <a:srgbClr val="FFFFFF"/>
                </a:solidFill>
                <a:latin typeface="Canva Sans Bold"/>
                <a:ea typeface="Canva Sans Bold"/>
                <a:cs typeface="Canva Sans Bold"/>
                <a:sym typeface="Canva Sans Bold"/>
              </a:rPr>
              <a:t>INPUT: first name: Username: admin</a:t>
            </a:r>
          </a:p>
          <a:p>
            <a:pPr algn="l">
              <a:lnSpc>
                <a:spcPts val="4759"/>
              </a:lnSpc>
            </a:pPr>
            <a:r>
              <a:rPr lang="en-US" sz="3399" b="1" dirty="0">
                <a:solidFill>
                  <a:srgbClr val="FFFFFF"/>
                </a:solidFill>
                <a:latin typeface="Canva Sans Bold"/>
                <a:ea typeface="Canva Sans Bold"/>
                <a:cs typeface="Canva Sans Bold"/>
                <a:sym typeface="Canva Sans Bold"/>
              </a:rPr>
              <a:t>                                       Password: password</a:t>
            </a:r>
          </a:p>
          <a:p>
            <a:pPr algn="l">
              <a:lnSpc>
                <a:spcPts val="4759"/>
              </a:lnSpc>
            </a:pPr>
            <a:r>
              <a:rPr lang="en-US" sz="3399" b="1" dirty="0">
                <a:solidFill>
                  <a:srgbClr val="FFFFFF"/>
                </a:solidFill>
                <a:latin typeface="Canva Sans Bold"/>
                <a:ea typeface="Canva Sans Bold"/>
                <a:cs typeface="Canva Sans Bold"/>
                <a:sym typeface="Canva Sans Bold"/>
              </a:rPr>
              <a:t>OUTPUT: Welcome to the password protected area admin</a:t>
            </a:r>
          </a:p>
          <a:p>
            <a:pPr algn="l">
              <a:lnSpc>
                <a:spcPts val="4759"/>
              </a:lnSpc>
            </a:pPr>
            <a:r>
              <a:rPr lang="en-US" sz="3399" b="1" dirty="0">
                <a:solidFill>
                  <a:srgbClr val="FFFFFF"/>
                </a:solidFill>
                <a:latin typeface="Canva Sans Bold"/>
                <a:ea typeface="Canva Sans Bold"/>
                <a:cs typeface="Canva Sans Bold"/>
                <a:sym typeface="Canva Sans Bold"/>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sp>
        <p:nvSpPr>
          <p:cNvPr id="2" name="Freeform 2"/>
          <p:cNvSpPr/>
          <p:nvPr/>
        </p:nvSpPr>
        <p:spPr>
          <a:xfrm>
            <a:off x="1670558" y="3690086"/>
            <a:ext cx="11388392" cy="6050083"/>
          </a:xfrm>
          <a:custGeom>
            <a:avLst/>
            <a:gdLst/>
            <a:ahLst/>
            <a:cxnLst/>
            <a:rect l="l" t="t" r="r" b="b"/>
            <a:pathLst>
              <a:path w="11388392" h="6050083">
                <a:moveTo>
                  <a:pt x="0" y="0"/>
                </a:moveTo>
                <a:lnTo>
                  <a:pt x="11388392" y="0"/>
                </a:lnTo>
                <a:lnTo>
                  <a:pt x="11388392" y="6050083"/>
                </a:lnTo>
                <a:lnTo>
                  <a:pt x="0" y="6050083"/>
                </a:lnTo>
                <a:lnTo>
                  <a:pt x="0" y="0"/>
                </a:lnTo>
                <a:close/>
              </a:path>
            </a:pathLst>
          </a:custGeom>
          <a:blipFill>
            <a:blip r:embed="rId2"/>
            <a:stretch>
              <a:fillRect/>
            </a:stretch>
          </a:blipFill>
        </p:spPr>
      </p:sp>
      <p:sp>
        <p:nvSpPr>
          <p:cNvPr id="3" name="TextBox 3"/>
          <p:cNvSpPr txBox="1"/>
          <p:nvPr/>
        </p:nvSpPr>
        <p:spPr>
          <a:xfrm>
            <a:off x="199956" y="114300"/>
            <a:ext cx="17888088" cy="3062602"/>
          </a:xfrm>
          <a:prstGeom prst="rect">
            <a:avLst/>
          </a:prstGeom>
        </p:spPr>
        <p:txBody>
          <a:bodyPr wrap="square" lIns="0" tIns="0" rIns="0" bIns="0" rtlCol="0" anchor="t">
            <a:spAutoFit/>
          </a:bodyPr>
          <a:lstStyle/>
          <a:p>
            <a:pPr algn="l">
              <a:lnSpc>
                <a:spcPts val="12320"/>
              </a:lnSpc>
            </a:pPr>
            <a:r>
              <a:rPr lang="en-US" sz="8800" b="1" dirty="0">
                <a:solidFill>
                  <a:srgbClr val="FFFFFF"/>
                </a:solidFill>
                <a:latin typeface="Chakra Petch Bold"/>
                <a:ea typeface="Chakra Petch Bold"/>
                <a:cs typeface="Chakra Petch Bold"/>
                <a:sym typeface="Chakra Petch Bold"/>
              </a:rPr>
              <a:t>TASK 25 DIRECTORY &amp; ENDPOINT DISCOVERY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sp>
        <p:nvSpPr>
          <p:cNvPr id="2" name="Freeform 2"/>
          <p:cNvSpPr/>
          <p:nvPr/>
        </p:nvSpPr>
        <p:spPr>
          <a:xfrm>
            <a:off x="781567" y="415639"/>
            <a:ext cx="9939098" cy="5280146"/>
          </a:xfrm>
          <a:custGeom>
            <a:avLst/>
            <a:gdLst/>
            <a:ahLst/>
            <a:cxnLst/>
            <a:rect l="l" t="t" r="r" b="b"/>
            <a:pathLst>
              <a:path w="9939098" h="5280146">
                <a:moveTo>
                  <a:pt x="0" y="0"/>
                </a:moveTo>
                <a:lnTo>
                  <a:pt x="9939098" y="0"/>
                </a:lnTo>
                <a:lnTo>
                  <a:pt x="9939098" y="5280146"/>
                </a:lnTo>
                <a:lnTo>
                  <a:pt x="0" y="5280146"/>
                </a:lnTo>
                <a:lnTo>
                  <a:pt x="0" y="0"/>
                </a:lnTo>
                <a:close/>
              </a:path>
            </a:pathLst>
          </a:custGeom>
          <a:blipFill>
            <a:blip r:embed="rId2"/>
            <a:stretch>
              <a:fillRect/>
            </a:stretch>
          </a:blipFill>
        </p:spPr>
      </p:sp>
      <p:sp>
        <p:nvSpPr>
          <p:cNvPr id="3" name="TextBox 3"/>
          <p:cNvSpPr txBox="1"/>
          <p:nvPr/>
        </p:nvSpPr>
        <p:spPr>
          <a:xfrm>
            <a:off x="369684" y="6883128"/>
            <a:ext cx="17628553" cy="2287652"/>
          </a:xfrm>
          <a:prstGeom prst="rect">
            <a:avLst/>
          </a:prstGeom>
        </p:spPr>
        <p:txBody>
          <a:bodyPr lIns="0" tIns="0" rIns="0" bIns="0" rtlCol="0" anchor="t">
            <a:spAutoFit/>
          </a:bodyPr>
          <a:lstStyle/>
          <a:p>
            <a:pPr algn="l">
              <a:lnSpc>
                <a:spcPts val="4588"/>
              </a:lnSpc>
            </a:pPr>
            <a:r>
              <a:rPr lang="en-US" sz="3277" b="1">
                <a:solidFill>
                  <a:srgbClr val="FFFFFF"/>
                </a:solidFill>
                <a:latin typeface="Canva Sans Bold"/>
                <a:ea typeface="Canva Sans Bold"/>
                <a:cs typeface="Canva Sans Bold"/>
                <a:sym typeface="Canva Sans Bold"/>
              </a:rPr>
              <a:t>Map endpoints</a:t>
            </a:r>
          </a:p>
          <a:p>
            <a:pPr algn="l">
              <a:lnSpc>
                <a:spcPts val="4588"/>
              </a:lnSpc>
            </a:pPr>
            <a:r>
              <a:rPr lang="en-US" sz="3277" b="1">
                <a:solidFill>
                  <a:srgbClr val="FFFFFF"/>
                </a:solidFill>
                <a:latin typeface="Canva Sans Bold"/>
                <a:ea typeface="Canva Sans Bold"/>
                <a:cs typeface="Canva Sans Bold"/>
                <a:sym typeface="Canva Sans Bold"/>
              </a:rPr>
              <a:t>The Target → Site map section was used to examine the application's structure. The discovered resources were organized by host and path.</a:t>
            </a:r>
          </a:p>
          <a:p>
            <a:pPr algn="l">
              <a:lnSpc>
                <a:spcPts val="4588"/>
              </a:lnSpc>
            </a:pPr>
            <a:endParaRPr lang="en-US" sz="3277" b="1">
              <a:solidFill>
                <a:srgbClr val="FFFFFF"/>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sp>
        <p:nvSpPr>
          <p:cNvPr id="2" name="TextBox 2"/>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3" name="TextBox 3"/>
          <p:cNvSpPr txBox="1"/>
          <p:nvPr/>
        </p:nvSpPr>
        <p:spPr>
          <a:xfrm>
            <a:off x="783894" y="411046"/>
            <a:ext cx="8131506" cy="1566544"/>
          </a:xfrm>
          <a:prstGeom prst="rect">
            <a:avLst/>
          </a:prstGeom>
        </p:spPr>
        <p:txBody>
          <a:bodyPr wrap="square" lIns="0" tIns="0" rIns="0" bIns="0" rtlCol="0" anchor="t">
            <a:spAutoFit/>
          </a:bodyPr>
          <a:lstStyle/>
          <a:p>
            <a:pPr algn="ctr">
              <a:lnSpc>
                <a:spcPts val="12880"/>
              </a:lnSpc>
            </a:pPr>
            <a:r>
              <a:rPr lang="en-US" sz="9200" b="1" dirty="0">
                <a:solidFill>
                  <a:srgbClr val="FFFFFF"/>
                </a:solidFill>
                <a:latin typeface="Chakra Petch Bold"/>
                <a:ea typeface="Chakra Petch Bold"/>
                <a:cs typeface="Chakra Petch Bold"/>
                <a:sym typeface="Chakra Petch Bold"/>
              </a:rPr>
              <a:t>CONCLUSION</a:t>
            </a:r>
          </a:p>
        </p:txBody>
      </p:sp>
      <p:sp>
        <p:nvSpPr>
          <p:cNvPr id="4" name="TextBox 4"/>
          <p:cNvSpPr txBox="1"/>
          <p:nvPr/>
        </p:nvSpPr>
        <p:spPr>
          <a:xfrm>
            <a:off x="387185" y="2089093"/>
            <a:ext cx="17900815" cy="8007076"/>
          </a:xfrm>
          <a:prstGeom prst="rect">
            <a:avLst/>
          </a:prstGeom>
        </p:spPr>
        <p:txBody>
          <a:bodyPr lIns="0" tIns="0" rIns="0" bIns="0" rtlCol="0" anchor="t">
            <a:spAutoFit/>
          </a:bodyPr>
          <a:lstStyle/>
          <a:p>
            <a:pPr algn="l">
              <a:lnSpc>
                <a:spcPts val="4244"/>
              </a:lnSpc>
            </a:pPr>
            <a:r>
              <a:rPr lang="en-US" sz="3032">
                <a:solidFill>
                  <a:srgbClr val="FFFFFF"/>
                </a:solidFill>
                <a:latin typeface="Canva Sans"/>
                <a:ea typeface="Canva Sans"/>
                <a:cs typeface="Canva Sans"/>
                <a:sym typeface="Canva Sans"/>
              </a:rPr>
              <a:t>The Week 7 Web Application Vulnerability Assessment and Penetration Testing (VAPT) assignment provided practical experience in identifying and analyzing common web application security vulnerabilities using Burp Suite Community Edition, Kali Linux, and Damn Vulnerable Web Application (DVWA) in a controlled laboratory environment.</a:t>
            </a:r>
          </a:p>
          <a:p>
            <a:pPr algn="l">
              <a:lnSpc>
                <a:spcPts val="4244"/>
              </a:lnSpc>
            </a:pPr>
            <a:endParaRPr lang="en-US" sz="3032">
              <a:solidFill>
                <a:srgbClr val="FFFFFF"/>
              </a:solidFill>
              <a:latin typeface="Canva Sans"/>
              <a:ea typeface="Canva Sans"/>
              <a:cs typeface="Canva Sans"/>
              <a:sym typeface="Canva Sans"/>
            </a:endParaRPr>
          </a:p>
          <a:p>
            <a:pPr algn="l">
              <a:lnSpc>
                <a:spcPts val="4244"/>
              </a:lnSpc>
            </a:pPr>
            <a:r>
              <a:rPr lang="en-US" sz="3032">
                <a:solidFill>
                  <a:srgbClr val="FFFFFF"/>
                </a:solidFill>
                <a:latin typeface="Canva Sans"/>
                <a:ea typeface="Canva Sans"/>
                <a:cs typeface="Canva Sans"/>
                <a:sym typeface="Canva Sans"/>
              </a:rPr>
              <a:t>During this assignment, Burp Suite was configured to intercept and inspect HTTP requests and responses. The application's endpoints, login functionality, input fields, and parameters were explored using the Proxy and Target Site map features. Manual testing was performed using Burp Suite Repeater to examine application behavior and identify potential security weaknesses.</a:t>
            </a:r>
          </a:p>
          <a:p>
            <a:pPr algn="l">
              <a:lnSpc>
                <a:spcPts val="4244"/>
              </a:lnSpc>
            </a:pPr>
            <a:endParaRPr lang="en-US" sz="3032">
              <a:solidFill>
                <a:srgbClr val="FFFFFF"/>
              </a:solidFill>
              <a:latin typeface="Canva Sans"/>
              <a:ea typeface="Canva Sans"/>
              <a:cs typeface="Canva Sans"/>
              <a:sym typeface="Canva Sans"/>
            </a:endParaRPr>
          </a:p>
          <a:p>
            <a:pPr algn="l">
              <a:lnSpc>
                <a:spcPts val="4244"/>
              </a:lnSpc>
            </a:pPr>
            <a:r>
              <a:rPr lang="en-US" sz="3032">
                <a:solidFill>
                  <a:srgbClr val="FFFFFF"/>
                </a:solidFill>
                <a:latin typeface="Canva Sans"/>
                <a:ea typeface="Canva Sans"/>
                <a:cs typeface="Canva Sans"/>
                <a:sym typeface="Canva Sans"/>
              </a:rPr>
              <a:t>The testing successfully demonstrated SQL injection and reflected Cross-Site Scripting (XSS) in the intentionally vulnerable DVWA application. Authentication-related testing and endpoint discovery were also explored. Screenshots and request-response evidence were collected to support the findings and document the testing process.</a:t>
            </a:r>
          </a:p>
          <a:p>
            <a:pPr algn="l">
              <a:lnSpc>
                <a:spcPts val="4244"/>
              </a:lnSpc>
            </a:pPr>
            <a:endParaRPr lang="en-US" sz="3032">
              <a:solidFill>
                <a:srgbClr val="FFFFFF"/>
              </a:solidFill>
              <a:latin typeface="Canva Sans"/>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A3C"/>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3980782" y="5807236"/>
            <a:ext cx="9635568" cy="4479764"/>
            <a:chOff x="0" y="0"/>
            <a:chExt cx="1311195" cy="609600"/>
          </a:xfrm>
        </p:grpSpPr>
        <p:sp>
          <p:nvSpPr>
            <p:cNvPr id="3" name="Freeform 3"/>
            <p:cNvSpPr/>
            <p:nvPr/>
          </p:nvSpPr>
          <p:spPr>
            <a:xfrm>
              <a:off x="0" y="0"/>
              <a:ext cx="1311195" cy="609600"/>
            </a:xfrm>
            <a:custGeom>
              <a:avLst/>
              <a:gdLst/>
              <a:ahLst/>
              <a:cxnLst/>
              <a:rect l="l" t="t" r="r" b="b"/>
              <a:pathLst>
                <a:path w="1311195" h="609600">
                  <a:moveTo>
                    <a:pt x="203200" y="609600"/>
                  </a:moveTo>
                  <a:lnTo>
                    <a:pt x="1107995" y="609600"/>
                  </a:lnTo>
                  <a:lnTo>
                    <a:pt x="1311195" y="0"/>
                  </a:lnTo>
                  <a:lnTo>
                    <a:pt x="0" y="0"/>
                  </a:lnTo>
                  <a:lnTo>
                    <a:pt x="203200" y="609600"/>
                  </a:lnTo>
                  <a:close/>
                </a:path>
              </a:pathLst>
            </a:custGeom>
            <a:gradFill rotWithShape="1">
              <a:gsLst>
                <a:gs pos="0">
                  <a:srgbClr val="FFFFFF">
                    <a:alpha val="12000"/>
                  </a:srgbClr>
                </a:gs>
                <a:gs pos="100000">
                  <a:srgbClr val="FFFFFF">
                    <a:alpha val="0"/>
                  </a:srgbClr>
                </a:gs>
              </a:gsLst>
              <a:lin ang="5400000"/>
            </a:gradFill>
          </p:spPr>
        </p:sp>
        <p:sp>
          <p:nvSpPr>
            <p:cNvPr id="4" name="TextBox 4"/>
            <p:cNvSpPr txBox="1"/>
            <p:nvPr/>
          </p:nvSpPr>
          <p:spPr>
            <a:xfrm>
              <a:off x="127000" y="-47625"/>
              <a:ext cx="1057195" cy="657225"/>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5096042" y="4139756"/>
            <a:ext cx="9266955" cy="1392379"/>
          </a:xfrm>
          <a:prstGeom prst="rect">
            <a:avLst/>
          </a:prstGeom>
        </p:spPr>
        <p:txBody>
          <a:bodyPr lIns="0" tIns="0" rIns="0" bIns="0" rtlCol="0" anchor="t">
            <a:spAutoFit/>
          </a:bodyPr>
          <a:lstStyle/>
          <a:p>
            <a:pPr algn="l">
              <a:lnSpc>
                <a:spcPts val="10165"/>
              </a:lnSpc>
            </a:pPr>
            <a:r>
              <a:rPr lang="en-US" sz="11295" b="1" spc="-677">
                <a:gradFill>
                  <a:gsLst>
                    <a:gs pos="0">
                      <a:srgbClr val="FFFFFF">
                        <a:alpha val="100000"/>
                      </a:srgbClr>
                    </a:gs>
                    <a:gs pos="50000">
                      <a:srgbClr val="FFFFFF">
                        <a:alpha val="100000"/>
                      </a:srgbClr>
                    </a:gs>
                    <a:gs pos="100000">
                      <a:srgbClr val="9294A7">
                        <a:alpha val="100000"/>
                      </a:srgbClr>
                    </a:gs>
                  </a:gsLst>
                  <a:lin ang="5400000"/>
                </a:gradFill>
                <a:latin typeface="Chakra Petch Bold"/>
                <a:ea typeface="Chakra Petch Bold"/>
                <a:cs typeface="Chakra Petch Bold"/>
                <a:sym typeface="Chakra Petch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587</Words>
  <Application>Microsoft Office PowerPoint</Application>
  <PresentationFormat>Custom</PresentationFormat>
  <Paragraphs>47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Canva Sans</vt:lpstr>
      <vt:lpstr>Arial</vt:lpstr>
      <vt:lpstr>Canva Sans Bold</vt:lpstr>
      <vt:lpstr>Calibri</vt:lpstr>
      <vt:lpstr>Chakra Petch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and Pink Modern Cybersecurity Presentation</dc:title>
  <cp:lastModifiedBy>Sai Amulya</cp:lastModifiedBy>
  <cp:revision>2</cp:revision>
  <dcterms:created xsi:type="dcterms:W3CDTF">2006-08-16T00:00:00Z</dcterms:created>
  <dcterms:modified xsi:type="dcterms:W3CDTF">2026-10-20T06:15:14Z</dcterms:modified>
  <dc:identifier>DAHYK5QKUsQ</dc:identifier>
</cp:coreProperties>
</file>